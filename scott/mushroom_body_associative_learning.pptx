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20" y="4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5435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1 (scott/experiment_01). MQAR associative recall. Figure from committed data (mqar_associative_recall/fullMB_D8_learning_curves.json): connectome (hemibrain-seeded) 0.93 vs random-sparse 0.84, 2 seeds, mean+/-range, 200 epochs; connectome reaches 80% at ~100 vs ~170 epochs (same-size nets, so ~1.7x less wall-clock). Definitive degree-matched full-fleet run: 0.918+/-0.007 vs 0.769+/-0.140, permutation p=0.048, wins at every lr; spectral radius matched so it's the wiring at equal 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2 (scott/experiment_02_mb_core_pruning). Prune the 14,025-neuron substrate to the ~5,608-neuron canonical MB core (Kenyon cells/MBON/DAN/MBIN). Final recall accuracy (lr 1e-3, completed runs, +/-1 SD): full 0.919+/-0.010 (n20), core 0.881+/-0.012 (n20), random subset 0.838+/-0.020 (n20), degree-matched 14k 0.827+/-0.013 (n17), degree-matched core 0.811+/-0.019 (n14). Core beats every control (rank 0/N; perm p 0.048-0.067). Wall-clock: core 4,128 s vs full 10,238 s (~2.5x). Advantage intrinsic to the MB core, not the halo.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Experiment 3 (scott/experiment_03) + Exp 2 follow-up. Full 14k arm, final test acc (+/-1 SD, n20): connectome (sparse, 1.53M trainable params) 0.919+/-0.010; dense+connectome-structure (eigvec_matched, Exp 2) 0.964; dense random-directions reservoir (C2, matched params) 0.348+/-0.067; dense ceiling (C1, 197.7M params = 129x) 0.152+/-0.003; smaller dense C3 0.162. C2 permutation p=0.048 (0/20). Wall-clock full: connectome 10,238 s vs C2 28,537 s (~2.8x). HONEST CAVEAT: dense arms were also worse-conditioned at init (sigma_max ~2.5 vs 1.08), so the clean reading is 'structure-as-conditioner' rather than 'sparse beats a well-tuned dense net' in the abstract — but capacity at matched budget clearly does not explain the connectome's score (random directions collapse to 0.35/0.20; connectome's own directions rescue a dense net to 0.96).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3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V="1">
            <a:off x="9966960" y="502920"/>
            <a:ext cx="411480" cy="493776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996696"/>
            <a:ext cx="452628" cy="452628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378440" y="502920"/>
            <a:ext cx="534924" cy="370332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V="1">
            <a:off x="10419588" y="873252"/>
            <a:ext cx="493776" cy="576072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13364" y="873252"/>
            <a:ext cx="205740" cy="658368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V="1">
            <a:off x="10913364" y="626364"/>
            <a:ext cx="617220" cy="246888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11119104" y="1243584"/>
            <a:ext cx="576072" cy="288036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30584" y="626364"/>
            <a:ext cx="164592" cy="617220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11695176" y="955548"/>
            <a:ext cx="411480" cy="288036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13364" y="873252"/>
            <a:ext cx="781812" cy="370332"/>
          </a:xfrm>
          <a:prstGeom prst="line">
            <a:avLst/>
          </a:prstGeom>
          <a:noFill/>
          <a:ln w="12700">
            <a:solidFill>
              <a:srgbClr val="6E7A54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902952" y="932688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314432" y="438912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355580" y="1385316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0849356" y="809244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11055096" y="1467612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466576" y="562356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631168" y="1179576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2042648" y="891540"/>
            <a:ext cx="128016" cy="128016"/>
          </a:xfrm>
          <a:prstGeom prst="ellipse">
            <a:avLst/>
          </a:prstGeom>
          <a:solidFill>
            <a:srgbClr val="6E7A54">
              <a:alpha val="43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 flipV="1">
            <a:off x="182880" y="5212080"/>
            <a:ext cx="329184" cy="395021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2880" y="5607101"/>
            <a:ext cx="362102" cy="362102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2064" y="5212080"/>
            <a:ext cx="427939" cy="296266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544982" y="5508346"/>
            <a:ext cx="395021" cy="460858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40003" y="5508346"/>
            <a:ext cx="164592" cy="526694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940003" y="5310835"/>
            <a:ext cx="493776" cy="197510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1104595" y="5804611"/>
            <a:ext cx="460858" cy="230429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33779" y="5310835"/>
            <a:ext cx="131674" cy="493776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1565453" y="5574182"/>
            <a:ext cx="329184" cy="230429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0003" y="5508346"/>
            <a:ext cx="625450" cy="296266"/>
          </a:xfrm>
          <a:prstGeom prst="line">
            <a:avLst/>
          </a:prstGeom>
          <a:noFill/>
          <a:ln w="12700">
            <a:solidFill>
              <a:srgbClr val="6E7A54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18872" y="5543093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448056" y="5148072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480974" y="5905195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875995" y="5444338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040587" y="5971032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1369771" y="5246827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1501445" y="5740603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830629" y="5510174"/>
            <a:ext cx="128016" cy="128016"/>
          </a:xfrm>
          <a:prstGeom prst="ellipse">
            <a:avLst/>
          </a:prstGeom>
          <a:solidFill>
            <a:srgbClr val="6E7A54">
              <a:alpha val="3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914400" y="868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kern="0" spc="300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CONNECTOMES FOR AI</a:t>
            </a:r>
            <a:endParaRPr lang="en-US" sz="1450" dirty="0"/>
          </a:p>
        </p:txBody>
      </p:sp>
      <p:sp>
        <p:nvSpPr>
          <p:cNvPr id="39" name="Text 37"/>
          <p:cNvSpPr/>
          <p:nvPr/>
        </p:nvSpPr>
        <p:spPr>
          <a:xfrm>
            <a:off x="914400" y="1481328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ECE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blueprint for better AI is</a:t>
            </a:r>
            <a:endParaRPr lang="en-US" sz="4600" dirty="0"/>
          </a:p>
          <a:p>
            <a:pPr marL="0" indent="0">
              <a:lnSpc>
                <a:spcPct val="103000"/>
              </a:lnSpc>
              <a:buNone/>
            </a:pPr>
            <a:r>
              <a:rPr lang="en-US" sz="4600" b="1" dirty="0">
                <a:solidFill>
                  <a:srgbClr val="ECE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wired into the brain.</a:t>
            </a:r>
            <a:endParaRPr lang="en-US" sz="4600" dirty="0"/>
          </a:p>
        </p:txBody>
      </p:sp>
      <p:sp>
        <p:nvSpPr>
          <p:cNvPr id="40" name="Text 38"/>
          <p:cNvSpPr/>
          <p:nvPr/>
        </p:nvSpPr>
        <p:spPr>
          <a:xfrm>
            <a:off x="914400" y="3611880"/>
            <a:ext cx="9966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800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problems that are effortless for brains still challenge the best AI models — recalling, recognizing, learning from a handful of examples. The brain's edge is its architecture</a:t>
            </a:r>
            <a:r>
              <a:rPr lang="en-US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refined over </a:t>
            </a:r>
            <a:r>
              <a:rPr lang="en-US" sz="1800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millions of years. We read that wiring diagram— the connectome — and buil</a:t>
            </a:r>
            <a:r>
              <a:rPr lang="en-US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800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 directly into recurrent neural networks to ask if they could learn brain-native tasks. 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14400" y="5806440"/>
            <a:ext cx="23911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Connectome Data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3323844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3909060" y="5806440"/>
            <a:ext cx="22585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Brain-Derived </a:t>
            </a:r>
            <a:r>
              <a:rPr lang="en-US" sz="1600" b="1" dirty="0">
                <a:solidFill>
                  <a:srgbClr val="ECE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185916" y="5806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6771131" y="5806440"/>
            <a:ext cx="391942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85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on Brain-Native Tasks 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50793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A85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  ·   THE CONNECTOME WIRING IS OPTIMIZED FOR ITS TASK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connectome learns faster and remembers more than artificial models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58366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6000"/>
              </a:lnSpc>
            </a:pPr>
            <a:r>
              <a:rPr lang="en-US" sz="1650" dirty="0">
                <a:solidFill>
                  <a:srgbClr val="81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fly mushroom body performs associative learning by binding sensory cues to outcomes. We asked how this circuit, when packaged as a recurrent neural network, compares to size-matched sparse models on the task it evolved for. The connectome learned associative pairings more accurately and quickly than randomly wired circuits.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752654"/>
            <a:ext cx="5924488" cy="3602736"/>
          </a:xfrm>
          <a:prstGeom prst="roundRect">
            <a:avLst>
              <a:gd name="adj" fmla="val 1269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pic>
        <p:nvPicPr>
          <p:cNvPr id="6" name="Image 0" descr="assets/fig_learning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87135"/>
            <a:ext cx="5631880" cy="3310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45936"/>
            <a:ext cx="5924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1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FlyWire mushroom body, 14,025 neurons, 2 seeds (shaded band = range). A stricter degree-matched control does worse still (0.77); the connectome's lead is statistically significant (p = 0.048).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976048" y="2926080"/>
            <a:ext cx="4667007" cy="1417320"/>
          </a:xfrm>
          <a:prstGeom prst="roundRect">
            <a:avLst>
              <a:gd name="adj" fmla="val 3871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232080" y="3063240"/>
            <a:ext cx="4154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5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0.93</a:t>
            </a:r>
            <a:r>
              <a:rPr lang="en-US" sz="1600" b="1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vs 0.84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7232080" y="3639312"/>
            <a:ext cx="4154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3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recall accuracy — connectome vs random wiring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976048" y="4572000"/>
            <a:ext cx="4667007" cy="1417320"/>
          </a:xfrm>
          <a:prstGeom prst="roundRect">
            <a:avLst>
              <a:gd name="adj" fmla="val 3871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232080" y="4709160"/>
            <a:ext cx="4154943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5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~1.7×</a:t>
            </a:r>
            <a:r>
              <a:rPr lang="en-US" sz="1600" b="1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less time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7232080" y="5285232"/>
            <a:ext cx="4154943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3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training to reach 80% recall (same-size networks)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320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A85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  ·   SMALLER MODELS THAT TRAIN FASTER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795373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Biologically-informed pruning produces smaller models at minimal cost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11074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50" dirty="0">
                <a:solidFill>
                  <a:srgbClr val="81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knowledge of the mushroom body circuit, we pruned the original neuron count from 14,025 to 5,608 – keeping only the cells that are biologically important to learning. Despite a 2.5x reduction in parameter count, task performance marginally moved (0.92 → 0.88), training ran 2.5× faster, and the pruned circuit beat every random circuit with more parameters.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6586513" cy="3602736"/>
          </a:xfrm>
          <a:prstGeom prst="roundRect">
            <a:avLst>
              <a:gd name="adj" fmla="val 1269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pic>
        <p:nvPicPr>
          <p:cNvPr id="6" name="Image 0" descr="assets/fig_pruning_ba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43784"/>
            <a:ext cx="6293905" cy="3310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45936"/>
            <a:ext cx="65865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1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MQAR, lr 1e-3, 20 seeds (degree-matched controls n=14–17); error bars = ±1 SD. The MB core beats every control graph (rank 0 of N).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638073" y="2926080"/>
            <a:ext cx="4004982" cy="1417320"/>
          </a:xfrm>
          <a:prstGeom prst="roundRect">
            <a:avLst>
              <a:gd name="adj" fmla="val 3871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94105" y="3063240"/>
            <a:ext cx="34929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5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0.92 → 0.88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7894105" y="3639312"/>
            <a:ext cx="34929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3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after removing 60% of the neurons — keeps ~96% of full accuracy after the same number of training runs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38073" y="4572000"/>
            <a:ext cx="4004982" cy="1417320"/>
          </a:xfrm>
          <a:prstGeom prst="roundRect">
            <a:avLst>
              <a:gd name="adj" fmla="val 3871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894105" y="4709160"/>
            <a:ext cx="349291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5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2.5×</a:t>
            </a:r>
            <a:r>
              <a:rPr lang="en-US" sz="1600" b="1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7894105" y="5285232"/>
            <a:ext cx="34929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3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training time – suggesting better performance in less time.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EA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50" dirty="0">
                <a:solidFill>
                  <a:srgbClr val="A85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  ·   CONNECTOME WIRING vs RAW PARAMETERS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3330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the structure, not the parameter count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36192"/>
            <a:ext cx="10972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6000"/>
              </a:lnSpc>
              <a:buNone/>
            </a:pPr>
            <a:r>
              <a:rPr lang="en-US" sz="1650" dirty="0">
                <a:solidFill>
                  <a:srgbClr val="81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test if the connectome’s performance can be matched by simply boosting parameter count, we compared it to fully-dense recurrent networks. Despite having up to 129x more parameters, the naïve dense approach yields minimal learning. Only when handed the connectome's own structure do dense networks compete.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6255353" cy="3602736"/>
          </a:xfrm>
          <a:prstGeom prst="roundRect">
            <a:avLst>
              <a:gd name="adj" fmla="val 1269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pic>
        <p:nvPicPr>
          <p:cNvPr id="6" name="Image 0" descr="assets/fig_den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843784"/>
            <a:ext cx="5962745" cy="33101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6345936"/>
            <a:ext cx="625535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1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MQAR, 14,025-neuron network, 20 seeds; error bars = ±1 SD. “Dense + connectome structure” = a dense net carrying the connectome's directions (Exp 2). Matched = equal trainable params (~1.5M).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306913" y="2926080"/>
            <a:ext cx="4336142" cy="1417320"/>
          </a:xfrm>
          <a:prstGeom prst="roundRect">
            <a:avLst>
              <a:gd name="adj" fmla="val 3871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62945" y="3063240"/>
            <a:ext cx="38240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5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0.15</a:t>
            </a:r>
            <a:r>
              <a:rPr lang="en-US" sz="1600" b="1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recall with 129× params</a:t>
            </a:r>
            <a:endParaRPr lang="en-US" sz="3100" dirty="0"/>
          </a:p>
        </p:txBody>
      </p:sp>
      <p:sp>
        <p:nvSpPr>
          <p:cNvPr id="10" name="Text 7"/>
          <p:cNvSpPr/>
          <p:nvPr/>
        </p:nvSpPr>
        <p:spPr>
          <a:xfrm>
            <a:off x="7562945" y="3639312"/>
            <a:ext cx="38240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3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dense net with 129× the parameters still fails to learn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06913" y="4572000"/>
            <a:ext cx="4336142" cy="1417320"/>
          </a:xfrm>
          <a:prstGeom prst="roundRect">
            <a:avLst>
              <a:gd name="adj" fmla="val 3871"/>
            </a:avLst>
          </a:prstGeom>
          <a:solidFill>
            <a:srgbClr val="FBF9F3"/>
          </a:solidFill>
          <a:ln w="12700">
            <a:solidFill>
              <a:srgbClr val="D9D0BF"/>
            </a:solidFill>
            <a:prstDash val="solid"/>
          </a:ln>
          <a:effectLst>
            <a:outerShdw blurRad="114300" dist="38100" dir="5400000" algn="bl" rotWithShape="0">
              <a:srgbClr val="6B6355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62945" y="4709160"/>
            <a:ext cx="38240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100" b="1" dirty="0">
                <a:solidFill>
                  <a:srgbClr val="A85C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~2.8×</a:t>
            </a:r>
            <a:r>
              <a:rPr lang="en-US" sz="1600" b="1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faster</a:t>
            </a:r>
            <a:endParaRPr lang="en-US" sz="3100" dirty="0"/>
          </a:p>
        </p:txBody>
      </p:sp>
      <p:sp>
        <p:nvSpPr>
          <p:cNvPr id="13" name="Text 10"/>
          <p:cNvSpPr/>
          <p:nvPr/>
        </p:nvSpPr>
        <p:spPr>
          <a:xfrm>
            <a:off x="7562945" y="5285232"/>
            <a:ext cx="38240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333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sparse connectome also trains quicker than matched dense nets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3B37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23444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A85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54480" y="1920240"/>
            <a:ext cx="90799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4000"/>
              </a:lnSpc>
              <a:buNone/>
            </a:pPr>
            <a:r>
              <a:rPr lang="en-US" sz="3200" b="1" dirty="0">
                <a:solidFill>
                  <a:srgbClr val="ECE3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Collecting more connectome data is the path to a new class of AI that solves what brains find easy and machines find hard.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0" y="452628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kern="0" spc="100" dirty="0">
                <a:solidFill>
                  <a:srgbClr val="6E7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Fruit fly →   mouse   →   human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 flipV="1">
            <a:off x="5074920" y="5257800"/>
            <a:ext cx="411480" cy="493776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74920" y="5751576"/>
            <a:ext cx="452628" cy="452628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0" y="5257800"/>
            <a:ext cx="534924" cy="370332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flipV="1">
            <a:off x="5527548" y="5628132"/>
            <a:ext cx="493776" cy="576072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1324" y="5628132"/>
            <a:ext cx="205740" cy="658368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21324" y="5381244"/>
            <a:ext cx="617220" cy="246888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227064" y="5998464"/>
            <a:ext cx="576072" cy="288036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38544" y="5381244"/>
            <a:ext cx="164592" cy="617220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6803136" y="5710428"/>
            <a:ext cx="411480" cy="288036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21324" y="5628132"/>
            <a:ext cx="781812" cy="370332"/>
          </a:xfrm>
          <a:prstGeom prst="line">
            <a:avLst/>
          </a:prstGeom>
          <a:noFill/>
          <a:ln w="12700">
            <a:solidFill>
              <a:srgbClr val="6E7A54">
                <a:alpha val="34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10912" y="5687568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5422392" y="5193792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5463540" y="6140196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5957316" y="5564124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63056" y="6222492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6574536" y="5317236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739128" y="5934456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7150608" y="5646420"/>
            <a:ext cx="128016" cy="128016"/>
          </a:xfrm>
          <a:prstGeom prst="ellipse">
            <a:avLst/>
          </a:prstGeom>
          <a:solidFill>
            <a:srgbClr val="6E7A54">
              <a:alpha val="49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968</Words>
  <Application>Microsoft Office PowerPoint</Application>
  <PresentationFormat>Widescreen</PresentationFormat>
  <Paragraphs>44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Mushroom-Body Connectome RNN — CEO Pitch</dc:title>
  <dc:subject>PptxGenJS Presentation</dc:subject>
  <dc:creator>EON Systems</dc:creator>
  <cp:lastModifiedBy>Scott Harris</cp:lastModifiedBy>
  <cp:revision>7</cp:revision>
  <dcterms:created xsi:type="dcterms:W3CDTF">2026-07-01T17:52:31Z</dcterms:created>
  <dcterms:modified xsi:type="dcterms:W3CDTF">2026-07-01T20:31:28Z</dcterms:modified>
</cp:coreProperties>
</file>